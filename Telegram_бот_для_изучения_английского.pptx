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Gelasio SemiBold" pitchFamily="2" charset="77"/>
      <p:regular r:id="rId8"/>
      <p:bold r:id="rId9"/>
    </p:embeddedFont>
  </p:embeddedFont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986"/>
  </p:normalViewPr>
  <p:slideViewPr>
    <p:cSldViewPr snapToGrid="0" snapToObjects="1">
      <p:cViewPr varScale="1">
        <p:scale>
          <a:sx n="116" d="100"/>
          <a:sy n="116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Тема проекта по дисциплине «Проектирование и конструирование программного обеспечения». Планируется разработать Telegram-бота для изучения английской лексики. Пользователь отправляет только слово или выражение. Бот автоматически создаёт карточку с переводом и примером, сохраняет её в личном словаре и предлагает короткие повторения. Произношение можно получить по кнопке. Перевод и контекст уточняются по желанию.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Проблема сформулирована как потребность целевой аудитории, которую предстоит проверить на этапе анализа требований. Методическая основа упражнений на вспоминание: Karpicke, J. D., Roediger, H. L. (2008). The Critical Importance of Retrieval for Learning. Science 319(5865), 966–968. https://doi.org/10.1126/science.1152408. Исследование показывает пользу повторного воспроизведения иностранной лексики для отсроченного запоминания. Оно не подтверждает эффективность именно проектируемого 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Описаны планируемые функции учебного проекта. Пользователь отправляет только английское слово или выражение. Бот создаёт перевод и пример через API внешнего сервиса искусственного интеллекта. Кнопки «Выбрать перевод», «Изменить перевод» и «Добавить контекст» позволяют уточнить карточку по желанию. По кнопкам «Послушать слово» и «Послушать пример» бот отправляет голосовые сообщения. Автоматическая отправка произношения при первом запуске выключена.</a:t>
            </a:r>
          </a:p>
          <a:p>
            <a:endParaRPr/>
          </a:p>
          <a:p>
            <a:r>
              <a:t>Программа бота, PostgreSQL и модель озвучки с одним английским голосом запускаются на MacBook Pro с M1 и 16 ГБ памяти. Бот включается на время разработки, проверок и демонстрации.</a:t>
            </a:r>
          </a:p>
          <a:p>
            <a:endParaRPr/>
          </a:p>
          <a:p>
            <a:r>
              <a:t>По умолчанию занятие содержит до пяти карточек. Дополнительная настройка FR-10 позволяет выбирать 3, 5 или 10 карточек. Пользователь оценивает запоминание кнопками «Вспомнил», «С трудом» и «Не вспомнил». По оценке бот назначает следующее повторение.</a:t>
            </a:r>
          </a:p>
          <a:p>
            <a:endParaRPr/>
          </a:p>
          <a:p>
            <a:r>
              <a:t>Напоминания при первом запуске выключены. Пользователь выбирает дни недели, местное время и часовой пояс. Бот отправляет максимум одно напоминание в выбранный день и только при наличии карточек к повторению. Доступны паузы на 1, 7 или 30 дней и полное отключение.</a:t>
            </a:r>
          </a:p>
          <a:p>
            <a:endParaRPr/>
          </a:p>
          <a:p>
            <a:r>
              <a:t>Сцены добавляются после обязательных функций. Начальная коллекция содержит не менее 30 фрагментов с поиском по не менее чем 50 словам или выражениям. Длительность фрагмента составляет 5–30 секунд. Сцены доступны по запросу при наличии подходящего материала в коллекции. Если сцены нет, перевод, пример и произношение остаются доступны. Автоматическая оценка речи пользователя в первую версию не входит.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Бот предназначен для студентов и взрослых, которые самостоятельно изучают английский на уровнях A1, A2, B1 и B2. Начальная настройка сложности примеров соответствует A2. Любители фильмов и сериалов смогут дополнительно смотреть короткие сцены из подготовленной коллекции. Для пользователей с ограниченным временем предусмотрены короткие занятия и отключаемые напоминания. После разработки запланирована проверка удобства с пятью представителями аудитории.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5D3B-B63E-5732-AF89-062C4009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D5A94-2C5F-2473-7A33-5690EE31F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881A1-C65E-7265-CFEC-E1229E610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Бот предназначен для студентов и взрослых, которые самостоятельно изучают английский на уровнях A1, A2, B1 и B2. Начальная настройка сложности примеров соответствует A2. Любители фильмов и сериалов смогут дополнительно смотреть короткие сцены из подготовленной коллекции. Для пользователей с ограниченным временем предусмотрены короткие занятия и отключаемые напоминания. После разработки запланирована проверка удобства с пятью представителями аудитории.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1908B-7EBB-DE63-CC58-4D3E31C5655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9687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21CD43-83E9-4C0E-B7E3-7F2C4A09E4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19C924-3171-471B-8A2A-DEA016F635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7730EF6F-5FFC-437F-A370-17C050677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2DA782-9B00-4D44-BF6D-DADD1B72166C}"/>
              </a:ext>
            </a:extLst>
          </p:cNvPr>
          <p:cNvSpPr>
            <a:spLocks noGrp="1"/>
          </p:cNvSpPr>
          <p:nvPr/>
        </p:nvSpPr>
        <p:spPr>
          <a:xfrm>
            <a:off x="661473" y="3971593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sz="3200"/>
              <a:t>Личный словарь и сцены из фильмов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E2E7D3-D44A-4779-A04C-FBDB3D30C925}"/>
              </a:ext>
            </a:extLst>
          </p:cNvPr>
          <p:cNvSpPr>
            <a:spLocks noGrp="1"/>
          </p:cNvSpPr>
          <p:nvPr/>
        </p:nvSpPr>
        <p:spPr>
          <a:xfrm>
            <a:off x="661511" y="2341245"/>
            <a:ext cx="10868787" cy="16303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sz="5100">
                <a:latin typeface="Gelasio SemiBold"/>
                <a:ea typeface="Gelasio SemiBold"/>
                <a:cs typeface="Gelasio SemiBold"/>
              </a:rPr>
              <a:t>Telegram-бот</a:t>
            </a:r>
          </a:p>
          <a:p>
            <a:pPr>
              <a:lnSpc>
                <a:spcPct val="150000"/>
              </a:lnSpc>
              <a:buNone/>
            </a:pPr>
            <a:r>
              <a:rPr sz="3200"/>
              <a:t>для изучения английского языка</a:t>
            </a:r>
            <a:endParaRPr sz="3200">
              <a:latin typeface="Gelasio SemiBold"/>
              <a:ea typeface="Gelasio SemiBold"/>
              <a:cs typeface="Gelasio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E4CA1-81A3-499E-98CA-784FCDF74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070" y="6218858"/>
            <a:ext cx="1541929" cy="6391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435B24-490A-2245-F13E-07E22D901B08}"/>
              </a:ext>
            </a:extLst>
          </p:cNvPr>
          <p:cNvSpPr>
            <a:spLocks noGrp="1"/>
          </p:cNvSpPr>
          <p:nvPr/>
        </p:nvSpPr>
        <p:spPr>
          <a:xfrm>
            <a:off x="8450664" y="5436158"/>
            <a:ext cx="271914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t>Студент группы Б23-191-1</a:t>
            </a:r>
          </a:p>
          <a:p>
            <a:pPr algn="r">
              <a:buNone/>
            </a:pPr>
            <a:r>
              <a:t>Иванов Владислав</a:t>
            </a:r>
          </a:p>
        </p:txBody>
      </p:sp>
    </p:spTree>
    <p:extLst>
      <p:ext uri="{BB962C8B-B14F-4D97-AF65-F5344CB8AC3E}">
        <p14:creationId xmlns:p14="http://schemas.microsoft.com/office/powerpoint/2010/main" val="21648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D9E80F-9B08-4DDD-87D2-DC1DBC49B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070" y="6218858"/>
            <a:ext cx="1541929" cy="6391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A73A78-E556-53DD-A892-F55F245BEC5D}"/>
              </a:ext>
            </a:extLst>
          </p:cNvPr>
          <p:cNvSpPr>
            <a:spLocks noGrp="1"/>
          </p:cNvSpPr>
          <p:nvPr/>
        </p:nvSpPr>
        <p:spPr>
          <a:xfrm>
            <a:off x="1627284" y="1585913"/>
            <a:ext cx="8937431" cy="3383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b="1"/>
              <a:t>Одного перевода бывает недостаточно</a:t>
            </a:r>
          </a:p>
          <a:p>
            <a:r>
              <a:t>После быстрого перевода пользователь может забыть новое слово. Нужны задания, в которых он сам вспоминает значение.</a:t>
            </a:r>
          </a:p>
          <a:p>
            <a:endParaRPr/>
          </a:p>
          <a:p>
            <a:r>
              <a:rPr b="1"/>
              <a:t>Нужен контекст употребления</a:t>
            </a:r>
            <a:endParaRPr/>
          </a:p>
          <a:p>
            <a:r>
              <a:t>Слово может иметь несколько значений. Реплика из фильма или сериала показывает, как оно звучит и в какой ситуации используется.</a:t>
            </a:r>
          </a:p>
          <a:p>
            <a:endParaRPr b="1"/>
          </a:p>
          <a:p>
            <a:r>
              <a:rPr b="1"/>
              <a:t>Занятия должны вписываться в день</a:t>
            </a:r>
            <a:endParaRPr/>
          </a:p>
          <a:p>
            <a:r>
              <a:t>Для проекта выбран короткий формат: несколько слов за подход и напоминания по настройкам пользователя.</a:t>
            </a:r>
          </a:p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D7936-9E0C-BE2A-7470-FE456C4D668F}"/>
              </a:ext>
            </a:extLst>
          </p:cNvPr>
          <p:cNvSpPr>
            <a:spLocks noGrp="1"/>
          </p:cNvSpPr>
          <p:nvPr/>
        </p:nvSpPr>
        <p:spPr>
          <a:xfrm>
            <a:off x="1026375" y="1063315"/>
            <a:ext cx="8937431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Проблема: как запоминать слова без перегрузки</a:t>
            </a:r>
          </a:p>
        </p:txBody>
      </p:sp>
    </p:spTree>
    <p:extLst>
      <p:ext uri="{BB962C8B-B14F-4D97-AF65-F5344CB8AC3E}">
        <p14:creationId xmlns:p14="http://schemas.microsoft.com/office/powerpoint/2010/main" val="750688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A556669-B808-4A01-B9D2-A71E2874B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070" y="6218858"/>
            <a:ext cx="1541929" cy="6391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7DF119-A239-1615-72F9-FBE86C628A1B}"/>
              </a:ext>
            </a:extLst>
          </p:cNvPr>
          <p:cNvSpPr>
            <a:spLocks noGrp="1"/>
          </p:cNvSpPr>
          <p:nvPr/>
        </p:nvSpPr>
        <p:spPr>
          <a:xfrm>
            <a:off x="1026375" y="1152389"/>
            <a:ext cx="8937431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Решение: персональный помощник в Telegram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086EFF-053B-4969-C623-F2864EFD3593}"/>
              </a:ext>
            </a:extLst>
          </p:cNvPr>
          <p:cNvSpPr>
            <a:spLocks noGrp="1"/>
          </p:cNvSpPr>
          <p:nvPr/>
        </p:nvSpPr>
        <p:spPr>
          <a:xfrm>
            <a:off x="1292733" y="2014061"/>
            <a:ext cx="9525000" cy="409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b="1"/>
              <a:t>Автоматическая карточка слова</a:t>
            </a:r>
            <a:endParaRPr/>
          </a:p>
          <a:p>
            <a:r>
              <a:t>Пользователь отправляет только слово или выражение. Бот сам создаёт перевод и пример. По желанию можно выбрать или изменить перевод, добавить контекст. Произношение доступно по кнопке.</a:t>
            </a:r>
          </a:p>
          <a:p>
            <a:endParaRPr/>
          </a:p>
          <a:p>
            <a:r>
              <a:rPr b="1"/>
              <a:t>Сцены из подготовленной коллекции</a:t>
            </a:r>
            <a:endParaRPr/>
          </a:p>
          <a:p>
            <a:r>
              <a:t>По запросу бот отправляет фрагмент фильма или сериала с субтитрами. Если подходящей сцены нет, текст и произношение остаются доступны.</a:t>
            </a:r>
          </a:p>
          <a:p>
            <a:endParaRPr/>
          </a:p>
          <a:p>
            <a:r>
              <a:rPr b="1"/>
              <a:t>Короткие повторения и напоминания</a:t>
            </a:r>
            <a:endParaRPr/>
          </a:p>
          <a:p>
            <a:r>
              <a:t>По умолчанию до 5 карточек за занятие. Следующая дата зависит от ответа. Пользователь сам включает напоминания. Бот присылает их не чаще раза в день. Доступны отключение и пауза.</a:t>
            </a:r>
          </a:p>
        </p:txBody>
      </p:sp>
    </p:spTree>
    <p:extLst>
      <p:ext uri="{BB962C8B-B14F-4D97-AF65-F5344CB8AC3E}">
        <p14:creationId xmlns:p14="http://schemas.microsoft.com/office/powerpoint/2010/main" val="194136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B976C8E-B9B2-44D8-9BF0-BB06349A5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071" y="6218858"/>
            <a:ext cx="1541929" cy="639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9BD37E-2A8A-9EFC-B908-B88AED7F52A7}"/>
              </a:ext>
            </a:extLst>
          </p:cNvPr>
          <p:cNvSpPr>
            <a:spLocks noGrp="1"/>
          </p:cNvSpPr>
          <p:nvPr/>
        </p:nvSpPr>
        <p:spPr>
          <a:xfrm>
            <a:off x="1026375" y="1152389"/>
            <a:ext cx="8937431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</a:pPr>
            <a:r>
              <a:t>Для кого создаётся бот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4CC86-A743-3E9F-585E-5548CB739158}"/>
              </a:ext>
            </a:extLst>
          </p:cNvPr>
          <p:cNvSpPr>
            <a:spLocks noGrp="1"/>
          </p:cNvSpPr>
          <p:nvPr/>
        </p:nvSpPr>
        <p:spPr>
          <a:xfrm>
            <a:off x="1292733" y="2014061"/>
            <a:ext cx="10426255" cy="409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b="1"/>
              <a:t>Студенты и взрослые, изучающие английский</a:t>
            </a:r>
            <a:endParaRPr/>
          </a:p>
          <a:p>
            <a:r>
              <a:t>Самостоятельно учат английский на уровнях A1–B2. Хотят сохранять слова из учёбы и повседневной жизни и возвращаться к ним в повторениях.</a:t>
            </a:r>
          </a:p>
          <a:p>
            <a:endParaRPr/>
          </a:p>
          <a:p>
            <a:r>
              <a:rPr b="1"/>
              <a:t>Любители фильмов и сериалов на английском</a:t>
            </a:r>
            <a:endParaRPr/>
          </a:p>
          <a:p>
            <a:r>
              <a:t>Встречают незнакомые выражения во время просмотра. Хотят понимать реплики и запоминать слова на примере знакомых сцен.</a:t>
            </a:r>
          </a:p>
          <a:p>
            <a:endParaRPr/>
          </a:p>
          <a:p>
            <a:r>
              <a:rPr b="1"/>
              <a:t>Пользователи с ограниченным временем</a:t>
            </a:r>
            <a:endParaRPr/>
          </a:p>
          <a:p>
            <a:r>
              <a:t>Предпочитают короткие занятия в Telegram. Сами включают напоминания, выбирают дни и время и при необходимости делают паузу.</a:t>
            </a:r>
          </a:p>
        </p:txBody>
      </p:sp>
    </p:spTree>
    <p:extLst>
      <p:ext uri="{BB962C8B-B14F-4D97-AF65-F5344CB8AC3E}">
        <p14:creationId xmlns:p14="http://schemas.microsoft.com/office/powerpoint/2010/main" val="60867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C19A-FFE5-C79A-7F11-DAEF5B3B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0470A3B-2C77-30E1-B3F4-CF2BD8848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071" y="6218858"/>
            <a:ext cx="1541929" cy="639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7983D1-05F8-9ADE-6DBD-0CA719B3C88B}"/>
              </a:ext>
            </a:extLst>
          </p:cNvPr>
          <p:cNvSpPr>
            <a:spLocks noGrp="1"/>
          </p:cNvSpPr>
          <p:nvPr/>
        </p:nvSpPr>
        <p:spPr>
          <a:xfrm>
            <a:off x="1026375" y="1152389"/>
            <a:ext cx="8937431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</a:pPr>
            <a:r>
              <a:rPr lang="ru-RU" dirty="0"/>
              <a:t>Команда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23D59-91E9-CF88-0F94-B965E0229D66}"/>
              </a:ext>
            </a:extLst>
          </p:cNvPr>
          <p:cNvSpPr>
            <a:spLocks noGrp="1"/>
          </p:cNvSpPr>
          <p:nvPr/>
        </p:nvSpPr>
        <p:spPr>
          <a:xfrm>
            <a:off x="1292733" y="2014061"/>
            <a:ext cx="10426255" cy="4095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ru-RU" dirty="0"/>
              <a:t>Владислав Иванов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0191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Macintosh PowerPoint</Application>
  <DocSecurity>0</DocSecurity>
  <PresentationFormat>Widescreen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Gelasio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Владислав Иванов</cp:lastModifiedBy>
  <cp:revision>2</cp:revision>
  <dcterms:created xsi:type="dcterms:W3CDTF">2026-10-15T16:19:17Z</dcterms:created>
  <dcterms:modified xsi:type="dcterms:W3CDTF">2026-10-18T19:47:28Z</dcterms:modified>
</cp:coreProperties>
</file>